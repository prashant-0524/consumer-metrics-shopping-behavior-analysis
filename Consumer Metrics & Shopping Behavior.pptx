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7.png"/><Relationship Id="rId10" Type="http://schemas.openxmlformats.org/officeDocument/2006/relationships/image" Target="../media/image-9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Consumer Metrics &amp; Shopping Behavior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Analytics: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Python · 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9557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622003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6447" y="22669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Records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46053" y="1622003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3196456" y="22669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Features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1048" y="2842766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1971452" y="34877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Nulls Resolved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21048" y="3794224"/>
            <a:ext cx="22728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imputed by category median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157"/>
            <a:ext cx="547866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 Data Engineering Pipeline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46249"/>
            <a:ext cx="8151763" cy="3521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1329" y="3165238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Impute Reviews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441329" y="3668845"/>
            <a:ext cx="1210397" cy="47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 by category for missing values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49316" y="3165238"/>
            <a:ext cx="1210397" cy="44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49316" y="3668845"/>
            <a:ext cx="1210397" cy="47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 age and compute frequency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1193" y="126397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CSV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1193" y="1547130"/>
            <a:ext cx="1210397" cy="319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file and inspect schema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53279" y="126397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Export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53279" y="1547130"/>
            <a:ext cx="1210397" cy="47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cleaned data to PostgreSQL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14612" y="1263973"/>
            <a:ext cx="1210397" cy="220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Standardize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14612" y="1547130"/>
            <a:ext cx="1210397" cy="47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column names to snake_case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6119" y="4572595"/>
            <a:ext cx="860896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Redundant 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dropped; age binned into Young_Adult, Adult, Middle_Age, Senior.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8548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&amp; Subscription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9170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Revenue Split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Non-Subscribers: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2,847 clients · $170,436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Subscribers: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1,053 clients · $62,645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580977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79603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74394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73% of customers remain unsubscribed — major conversion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77665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Rating &amp; Discount Rate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28615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Highest Rated (out of 5)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22676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🏷️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Most Discounted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676474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0676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Lifecycle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605335"/>
            <a:ext cx="2290465" cy="1138238"/>
          </a:xfrm>
          <a:prstGeom prst="roundRect">
            <a:avLst>
              <a:gd name="adj" fmla="val 523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7518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058367"/>
            <a:ext cx="1997422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3,116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clients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&gt;10 purchases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605335"/>
            <a:ext cx="2290539" cy="1138238"/>
          </a:xfrm>
          <a:prstGeom prst="roundRect">
            <a:avLst>
              <a:gd name="adj" fmla="val 523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7518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058367"/>
            <a:ext cx="1997497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701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clients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2–10 purchases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885331"/>
            <a:ext cx="4722763" cy="1138238"/>
          </a:xfrm>
          <a:prstGeom prst="roundRect">
            <a:avLst>
              <a:gd name="adj" fmla="val 5231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03185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338364"/>
            <a:ext cx="4429720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83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clients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purchase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418303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repeat buyers (prev. purchases &gt;5):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2,518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non-subscribers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958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subscribers — untapped premium conversion pool.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7421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Cohort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Young Adults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$62,143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averages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Standard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580977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7EDD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79603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74394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Young Adults with Express bundles during Fall peak.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2432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Executive Dashboard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717575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079947" y="101344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Active Profiles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594101" y="717575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78004" y="101344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Order Value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96119" y="1230437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79947" y="152630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Review ★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94101" y="1230437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73%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8004" y="152630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96119" y="1712268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Revenue</a:t>
            </a:r>
            <a:endParaRPr lang="en-US" sz="6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62807"/>
            <a:ext cx="3989412" cy="28715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63232" y="1712268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Seasonality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663232" y="1858417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Fall: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$60K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Summer: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$55.8K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663232" y="1978893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Payments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63232" y="2125042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Credit Card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$40.31K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PayPal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$40.11K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Cash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$40K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8319"/>
            <a:ext cx="55812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44823"/>
            <a:ext cx="2622724" cy="1530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605632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Conversion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133600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73% non-subscribers ($170K revenue) with exclusive perks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444823"/>
            <a:ext cx="2622724" cy="15300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605632"/>
            <a:ext cx="1856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Architecture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1912144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Milestone rewards to convert high-frequency buyers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444823"/>
            <a:ext cx="2622724" cy="15300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605632"/>
            <a:ext cx="19616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Governance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1912144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Threshold controls — Hat 50% promo rate erodes margin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16610"/>
            <a:ext cx="2622724" cy="13085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3277419"/>
            <a:ext cx="17976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583930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 top-rated items (Gloves, Sandals) with high-volume anchors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3116610"/>
            <a:ext cx="2622724" cy="13085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3277419"/>
            <a:ext cx="21638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Demographic Targeting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3583930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 Express bundles during Fall peak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0894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964531"/>
            <a:ext cx="4722763" cy="1870025"/>
          </a:xfrm>
          <a:prstGeom prst="roundRect">
            <a:avLst>
              <a:gd name="adj" fmla="val 318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1" y="1969294"/>
            <a:ext cx="2356619" cy="1043657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6" name="Text 3"/>
          <p:cNvSpPr/>
          <p:nvPr/>
        </p:nvSpPr>
        <p:spPr>
          <a:xfrm>
            <a:off x="4071640" y="21110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417564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nulls resolved · PostgreSQL warehouse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86500" y="1969294"/>
            <a:ext cx="2356619" cy="1043657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0" y="1969294"/>
            <a:ext cx="19050" cy="1043657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</p:sp>
      <p:sp>
        <p:nvSpPr>
          <p:cNvPr id="10" name="Text 7"/>
          <p:cNvSpPr/>
          <p:nvPr/>
        </p:nvSpPr>
        <p:spPr>
          <a:xfrm>
            <a:off x="6428259" y="21110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Leaders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8259" y="2417564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$157K · Young Adults $62K · Clothing $104K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9881" y="3012951"/>
            <a:ext cx="4713238" cy="816843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13" name="Shape 10"/>
          <p:cNvSpPr/>
          <p:nvPr/>
        </p:nvSpPr>
        <p:spPr>
          <a:xfrm>
            <a:off x="3929881" y="3012951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DDD3BA"/>
          </a:solidFill>
          <a:ln/>
        </p:spPr>
      </p:sp>
      <p:sp>
        <p:nvSpPr>
          <p:cNvPr id="14" name="Text 11"/>
          <p:cNvSpPr/>
          <p:nvPr/>
        </p:nvSpPr>
        <p:spPr>
          <a:xfrm>
            <a:off x="4071640" y="31547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Growth Levers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71640" y="346122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73% non-subscribers · 2,518 loyal non-members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2026-07-03T08:25:33Z</dcterms:created>
  <dcterms:modified xsi:type="dcterms:W3CDTF">2026-07-03T08:25:33Z</dcterms:modified>
</cp:coreProperties>
</file>